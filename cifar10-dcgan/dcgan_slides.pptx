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39c1bc5-22de-dc6e-4679-1ad635c33f7c}">
          <p14:sldIdLst>
            <p14:sldId id="256"/>
            <p14:sldId id="257"/>
          </p14:sldIdLst>
        </p14:section>
        <p14:section name="Method" id="{492f3ffb-b2da-40ff-824a-a263d6695356}">
          <p14:sldIdLst>
            <p14:sldId id="258"/>
            <p14:sldId id="259"/>
            <p14:sldId id="260"/>
            <p14:sldId id="261"/>
          </p14:sldIdLst>
        </p14:section>
        <p14:section name="Results" id="{d85d7087-73be-3294-279a-bcf99563a4bd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kicker"/>
          <p:cNvSpPr txBox="1"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CSYE 7380  /  APPLIED GENERATIVE 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Teaching a GAN to draw cars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DCGAN on CIFAR-10 automobile: my build vs. Claude Code</a:t>
            </a:r>
            <a:endParaRPr lang="en-US" sz="1800" dirty="0"/>
          </a:p>
        </p:txBody>
      </p:sp>
      <p:sp>
        <p:nvSpPr>
          <p:cNvPr id="5" name="cover author"/>
          <p:cNvSpPr txBox="1"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 Chen   ·   Prof. Subrata Das</a:t>
            </a:r>
            <a:endParaRPr lang="en-US" sz="1300" dirty="0"/>
          </a:p>
        </p:txBody>
      </p:sp>
      <p:pic>
        <p:nvPicPr>
          <p:cNvPr id="6" name="real ca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11880"/>
            <a:ext cx="8046720" cy="11519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THE TASK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Three requirements, built twice</a:t>
            </a:r>
            <a:endParaRPr lang="en-US" sz="2800" dirty="0"/>
          </a:p>
        </p:txBody>
      </p:sp>
      <p:sp>
        <p:nvSpPr>
          <p:cNvPr id="4" name="req num 1"/>
          <p:cNvSpPr txBox="1"/>
          <p:nvPr/>
        </p:nvSpPr>
        <p:spPr>
          <a:xfrm>
            <a:off x="45720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726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req title 1"/>
          <p:cNvSpPr txBox="1"/>
          <p:nvPr/>
        </p:nvSpPr>
        <p:spPr>
          <a:xfrm>
            <a:off x="123444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Dense for convolutions</a:t>
            </a:r>
            <a:endParaRPr lang="en-US" sz="1600" dirty="0"/>
          </a:p>
        </p:txBody>
      </p:sp>
      <p:sp>
        <p:nvSpPr>
          <p:cNvPr id="6" name="req body 1"/>
          <p:cNvSpPr txBox="1"/>
          <p:nvPr/>
        </p:nvSpPr>
        <p:spPr>
          <a:xfrm>
            <a:off x="12344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upsamples with Conv2DTranspose; discriminator downsamples with strided Conv2D.</a:t>
            </a:r>
            <a:endParaRPr lang="en-US" sz="1300" dirty="0"/>
          </a:p>
        </p:txBody>
      </p:sp>
      <p:sp>
        <p:nvSpPr>
          <p:cNvPr id="7" name="req rule 1"/>
          <p:cNvSpPr/>
          <p:nvPr/>
        </p:nvSpPr>
        <p:spPr>
          <a:xfrm>
            <a:off x="457200" y="2286000"/>
            <a:ext cx="470916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req num 2"/>
          <p:cNvSpPr txBox="1"/>
          <p:nvPr/>
        </p:nvSpPr>
        <p:spPr>
          <a:xfrm>
            <a:off x="457200" y="23957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726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req title 2"/>
          <p:cNvSpPr txBox="1"/>
          <p:nvPr/>
        </p:nvSpPr>
        <p:spPr>
          <a:xfrm>
            <a:off x="1234440" y="2395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one class</a:t>
            </a:r>
            <a:endParaRPr lang="en-US" sz="1600" dirty="0"/>
          </a:p>
        </p:txBody>
      </p:sp>
      <p:sp>
        <p:nvSpPr>
          <p:cNvPr id="10" name="req body 2"/>
          <p:cNvSpPr txBox="1"/>
          <p:nvPr/>
        </p:nvSpPr>
        <p:spPr>
          <a:xfrm>
            <a:off x="1234440" y="2743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CIFAR-10 automobile images, 32×32 color.</a:t>
            </a:r>
            <a:endParaRPr lang="en-US" sz="1300" dirty="0"/>
          </a:p>
        </p:txBody>
      </p:sp>
      <p:sp>
        <p:nvSpPr>
          <p:cNvPr id="11" name="req rule 2"/>
          <p:cNvSpPr/>
          <p:nvPr/>
        </p:nvSpPr>
        <p:spPr>
          <a:xfrm>
            <a:off x="457200" y="3310128"/>
            <a:ext cx="470916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req num 3"/>
          <p:cNvSpPr txBox="1"/>
          <p:nvPr/>
        </p:nvSpPr>
        <p:spPr>
          <a:xfrm>
            <a:off x="457200" y="341985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726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req title 3"/>
          <p:cNvSpPr txBox="1"/>
          <p:nvPr/>
        </p:nvSpPr>
        <p:spPr>
          <a:xfrm>
            <a:off x="1234440" y="3419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noise vector</a:t>
            </a:r>
            <a:endParaRPr lang="en-US" sz="1600" dirty="0"/>
          </a:p>
        </p:txBody>
      </p:sp>
      <p:sp>
        <p:nvSpPr>
          <p:cNvPr id="14" name="req body 3"/>
          <p:cNvSpPr txBox="1"/>
          <p:nvPr/>
        </p:nvSpPr>
        <p:spPr>
          <a:xfrm>
            <a:off x="1234440" y="37673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changing the 100-number input changes the car.</a:t>
            </a:r>
            <a:endParaRPr lang="en-US" sz="1300" dirty="0"/>
          </a:p>
        </p:txBody>
      </p:sp>
      <p:sp>
        <p:nvSpPr>
          <p:cNvPr id="15" name="flow box 1"/>
          <p:cNvSpPr/>
          <p:nvPr/>
        </p:nvSpPr>
        <p:spPr>
          <a:xfrm>
            <a:off x="5943600" y="1371600"/>
            <a:ext cx="274320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flow text 1"/>
          <p:cNvSpPr txBox="1"/>
          <p:nvPr/>
        </p:nvSpPr>
        <p:spPr>
          <a:xfrm>
            <a:off x="608076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Dense GAN (MNIST)</a:t>
            </a:r>
            <a:endParaRPr lang="en-US" sz="1300" dirty="0"/>
          </a:p>
        </p:txBody>
      </p:sp>
      <p:sp>
        <p:nvSpPr>
          <p:cNvPr id="17" name="flow arrow 1"/>
          <p:cNvSpPr/>
          <p:nvPr/>
        </p:nvSpPr>
        <p:spPr>
          <a:xfrm>
            <a:off x="7315200" y="1901952"/>
            <a:ext cx="0" cy="219456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8" name="flow box 2"/>
          <p:cNvSpPr/>
          <p:nvPr/>
        </p:nvSpPr>
        <p:spPr>
          <a:xfrm>
            <a:off x="5943600" y="2148840"/>
            <a:ext cx="2743200" cy="502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9" name="flow text 2"/>
          <p:cNvSpPr txBox="1"/>
          <p:nvPr/>
        </p:nvSpPr>
        <p:spPr>
          <a:xfrm>
            <a:off x="608076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DCGAN (manual)</a:t>
            </a:r>
            <a:endParaRPr lang="en-US" sz="1300" dirty="0"/>
          </a:p>
        </p:txBody>
      </p:sp>
      <p:sp>
        <p:nvSpPr>
          <p:cNvPr id="20" name="flow arrow 2"/>
          <p:cNvSpPr/>
          <p:nvPr/>
        </p:nvSpPr>
        <p:spPr>
          <a:xfrm>
            <a:off x="7315200" y="2679192"/>
            <a:ext cx="0" cy="219456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1" name="flow box 3"/>
          <p:cNvSpPr/>
          <p:nvPr/>
        </p:nvSpPr>
        <p:spPr>
          <a:xfrm>
            <a:off x="5943600" y="2926080"/>
            <a:ext cx="2743200" cy="502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2" name="flow text 3"/>
          <p:cNvSpPr txBox="1"/>
          <p:nvPr/>
        </p:nvSpPr>
        <p:spPr>
          <a:xfrm>
            <a:off x="608076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DCGAN</a:t>
            </a:r>
            <a:endParaRPr lang="en-US" sz="1300" dirty="0"/>
          </a:p>
        </p:txBody>
      </p:sp>
      <p:sp>
        <p:nvSpPr>
          <p:cNvPr id="23" name="flow arrow 3"/>
          <p:cNvSpPr/>
          <p:nvPr/>
        </p:nvSpPr>
        <p:spPr>
          <a:xfrm>
            <a:off x="7315200" y="3456432"/>
            <a:ext cx="0" cy="219456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4" name="flow box 4"/>
          <p:cNvSpPr/>
          <p:nvPr/>
        </p:nvSpPr>
        <p:spPr>
          <a:xfrm>
            <a:off x="5943600" y="3703320"/>
            <a:ext cx="2743200" cy="502920"/>
          </a:xfrm>
          <a:prstGeom prst="rect">
            <a:avLst/>
          </a:prstGeom>
          <a:solidFill>
            <a:srgbClr val="D7261E"/>
          </a:solidFill>
          <a:ln/>
        </p:spPr>
      </p:sp>
      <p:sp>
        <p:nvSpPr>
          <p:cNvPr id="25" name="flow text 4"/>
          <p:cNvSpPr txBox="1"/>
          <p:nvPr/>
        </p:nvSpPr>
        <p:spPr>
          <a:xfrm>
            <a:off x="6080760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00" dirty="0"/>
          </a:p>
        </p:txBody>
      </p:sp>
      <p:sp>
        <p:nvSpPr>
          <p:cNvPr id="26" name="flow note"/>
          <p:cNvSpPr txBox="1"/>
          <p:nvPr/>
        </p:nvSpPr>
        <p:spPr>
          <a:xfrm>
            <a:off x="594360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and settings; only the training code differs.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SHARED DATA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One dataset, one cleaning recipe</a:t>
            </a:r>
            <a:endParaRPr lang="en-US" sz="2800" dirty="0"/>
          </a:p>
        </p:txBody>
      </p:sp>
      <p:sp>
        <p:nvSpPr>
          <p:cNvPr id="4" name="stat"/>
          <p:cNvSpPr txBox="1"/>
          <p:nvPr/>
        </p:nvSpPr>
        <p:spPr>
          <a:xfrm>
            <a:off x="457200" y="1280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D726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6,000</a:t>
            </a:r>
            <a:endParaRPr lang="en-US" sz="6000" dirty="0"/>
          </a:p>
        </p:txBody>
      </p:sp>
      <p:sp>
        <p:nvSpPr>
          <p:cNvPr id="5" name="stat label"/>
          <p:cNvSpPr txBox="1"/>
          <p:nvPr/>
        </p:nvSpPr>
        <p:spPr>
          <a:xfrm>
            <a:off x="45720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images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(5,000 train + 1,000 test, merged)</a:t>
            </a:r>
            <a:endParaRPr lang="en-US" sz="1300" dirty="0"/>
          </a:p>
        </p:txBody>
      </p:sp>
      <p:sp>
        <p:nvSpPr>
          <p:cNvPr id="6" name="step key 1"/>
          <p:cNvSpPr txBox="1"/>
          <p:nvPr/>
        </p:nvSpPr>
        <p:spPr>
          <a:xfrm>
            <a:off x="3566160" y="13258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1200" dirty="0"/>
          </a:p>
        </p:txBody>
      </p:sp>
      <p:sp>
        <p:nvSpPr>
          <p:cNvPr id="7" name="step text 1"/>
          <p:cNvSpPr txBox="1"/>
          <p:nvPr/>
        </p:nvSpPr>
        <p:spPr>
          <a:xfrm>
            <a:off x="4572000" y="13258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CIFAR-10, 32×32×3 color images</a:t>
            </a:r>
            <a:endParaRPr lang="en-US" sz="1400" dirty="0"/>
          </a:p>
        </p:txBody>
      </p:sp>
      <p:sp>
        <p:nvSpPr>
          <p:cNvPr id="8" name="step rule 1"/>
          <p:cNvSpPr/>
          <p:nvPr/>
        </p:nvSpPr>
        <p:spPr>
          <a:xfrm>
            <a:off x="3566160" y="1673352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step key 2"/>
          <p:cNvSpPr txBox="1"/>
          <p:nvPr/>
        </p:nvSpPr>
        <p:spPr>
          <a:xfrm>
            <a:off x="3566160" y="16916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200" dirty="0"/>
          </a:p>
        </p:txBody>
      </p:sp>
      <p:sp>
        <p:nvSpPr>
          <p:cNvPr id="10" name="step text 2"/>
          <p:cNvSpPr txBox="1"/>
          <p:nvPr/>
        </p:nvSpPr>
        <p:spPr>
          <a:xfrm>
            <a:off x="4572000" y="16916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class 1, automobile only</a:t>
            </a:r>
            <a:endParaRPr lang="en-US" sz="1400" dirty="0"/>
          </a:p>
        </p:txBody>
      </p:sp>
      <p:sp>
        <p:nvSpPr>
          <p:cNvPr id="11" name="step rule 2"/>
          <p:cNvSpPr/>
          <p:nvPr/>
        </p:nvSpPr>
        <p:spPr>
          <a:xfrm>
            <a:off x="3566160" y="2039112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step key 3"/>
          <p:cNvSpPr txBox="1"/>
          <p:nvPr/>
        </p:nvSpPr>
        <p:spPr>
          <a:xfrm>
            <a:off x="3566160" y="2057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endParaRPr lang="en-US" sz="1200" dirty="0"/>
          </a:p>
        </p:txBody>
      </p:sp>
      <p:sp>
        <p:nvSpPr>
          <p:cNvPr id="13" name="step text 3"/>
          <p:cNvSpPr txBox="1"/>
          <p:nvPr/>
        </p:nvSpPr>
        <p:spPr>
          <a:xfrm>
            <a:off x="4572000" y="2057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labels; a GAN just imitates, no names needed</a:t>
            </a:r>
            <a:endParaRPr lang="en-US" sz="1400" dirty="0"/>
          </a:p>
        </p:txBody>
      </p:sp>
      <p:sp>
        <p:nvSpPr>
          <p:cNvPr id="14" name="step rule 3"/>
          <p:cNvSpPr/>
          <p:nvPr/>
        </p:nvSpPr>
        <p:spPr>
          <a:xfrm>
            <a:off x="3566160" y="2404872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step key 4"/>
          <p:cNvSpPr txBox="1"/>
          <p:nvPr/>
        </p:nvSpPr>
        <p:spPr>
          <a:xfrm>
            <a:off x="3566160" y="24231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1200" dirty="0"/>
          </a:p>
        </p:txBody>
      </p:sp>
      <p:sp>
        <p:nvSpPr>
          <p:cNvPr id="16" name="step text 4"/>
          <p:cNvSpPr txBox="1"/>
          <p:nvPr/>
        </p:nvSpPr>
        <p:spPr>
          <a:xfrm>
            <a:off x="4572000" y="24231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to [-1, 1] to match the tanh output</a:t>
            </a:r>
            <a:endParaRPr lang="en-US" sz="1400" dirty="0"/>
          </a:p>
        </p:txBody>
      </p:sp>
      <p:sp>
        <p:nvSpPr>
          <p:cNvPr id="17" name="step rule 4"/>
          <p:cNvSpPr/>
          <p:nvPr/>
        </p:nvSpPr>
        <p:spPr>
          <a:xfrm>
            <a:off x="3566160" y="2770632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pic>
        <p:nvPicPr>
          <p:cNvPr id="18" name="real sampl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0"/>
            <a:ext cx="8229600" cy="1178132"/>
          </a:xfrm>
          <a:prstGeom prst="rect">
            <a:avLst/>
          </a:prstGeom>
        </p:spPr>
      </p:pic>
      <p:sp>
        <p:nvSpPr>
          <p:cNvPr id="19" name="real caption"/>
          <p:cNvSpPr txBox="1"/>
          <p:nvPr/>
        </p:nvSpPr>
        <p:spPr>
          <a:xfrm>
            <a:off x="45720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training images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Generator draws, discriminator judges</a:t>
            </a:r>
            <a:endParaRPr lang="en-US" sz="2800" dirty="0"/>
          </a:p>
        </p:txBody>
      </p:sp>
      <p:sp>
        <p:nvSpPr>
          <p:cNvPr id="4" name="gen label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  /  small noise in, picture out</a:t>
            </a:r>
            <a:endParaRPr lang="en-US" sz="1100" dirty="0"/>
          </a:p>
        </p:txBody>
      </p:sp>
      <p:sp>
        <p:nvSpPr>
          <p:cNvPr id="5" name="gen box 1"/>
          <p:cNvSpPr/>
          <p:nvPr/>
        </p:nvSpPr>
        <p:spPr>
          <a:xfrm>
            <a:off x="457200" y="1627632"/>
            <a:ext cx="1481328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gen text 1"/>
          <p:cNvSpPr txBox="1"/>
          <p:nvPr/>
        </p:nvSpPr>
        <p:spPr>
          <a:xfrm>
            <a:off x="502920" y="162763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(100)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noise</a:t>
            </a:r>
            <a:endParaRPr lang="en-US" sz="1400" dirty="0"/>
          </a:p>
        </p:txBody>
      </p:sp>
      <p:sp>
        <p:nvSpPr>
          <p:cNvPr id="7" name="gen arrow 1"/>
          <p:cNvSpPr/>
          <p:nvPr/>
        </p:nvSpPr>
        <p:spPr>
          <a:xfrm>
            <a:off x="1975104" y="1993392"/>
            <a:ext cx="132588" cy="0"/>
          </a:xfrm>
          <a:prstGeom prst="line">
            <a:avLst/>
          </a:prstGeom>
          <a:noFill/>
          <a:ln w="19050">
            <a:solidFill>
              <a:srgbClr val="D7261E"/>
            </a:solidFill>
            <a:prstDash val="solid"/>
            <a:tailEnd type="triangle"/>
          </a:ln>
        </p:spPr>
      </p:sp>
      <p:sp>
        <p:nvSpPr>
          <p:cNvPr id="8" name="gen box 2"/>
          <p:cNvSpPr/>
          <p:nvPr/>
        </p:nvSpPr>
        <p:spPr>
          <a:xfrm>
            <a:off x="2144268" y="1627632"/>
            <a:ext cx="1481328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gen text 2"/>
          <p:cNvSpPr txBox="1"/>
          <p:nvPr/>
        </p:nvSpPr>
        <p:spPr>
          <a:xfrm>
            <a:off x="2189988" y="162763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8×8×256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reshape</a:t>
            </a:r>
            <a:endParaRPr lang="en-US" sz="1400" dirty="0"/>
          </a:p>
        </p:txBody>
      </p:sp>
      <p:sp>
        <p:nvSpPr>
          <p:cNvPr id="10" name="gen arrow 2"/>
          <p:cNvSpPr/>
          <p:nvPr/>
        </p:nvSpPr>
        <p:spPr>
          <a:xfrm>
            <a:off x="3662172" y="1993392"/>
            <a:ext cx="132588" cy="0"/>
          </a:xfrm>
          <a:prstGeom prst="line">
            <a:avLst/>
          </a:prstGeom>
          <a:noFill/>
          <a:ln w="19050">
            <a:solidFill>
              <a:srgbClr val="D7261E"/>
            </a:solidFill>
            <a:prstDash val="solid"/>
            <a:tailEnd type="triangle"/>
          </a:ln>
        </p:spPr>
      </p:sp>
      <p:sp>
        <p:nvSpPr>
          <p:cNvPr id="11" name="gen box 3"/>
          <p:cNvSpPr/>
          <p:nvPr/>
        </p:nvSpPr>
        <p:spPr>
          <a:xfrm>
            <a:off x="3831336" y="1627632"/>
            <a:ext cx="1481328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2" name="gen text 3"/>
          <p:cNvSpPr txBox="1"/>
          <p:nvPr/>
        </p:nvSpPr>
        <p:spPr>
          <a:xfrm>
            <a:off x="3877056" y="162763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16×16×128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ConvT, stride 2</a:t>
            </a:r>
            <a:endParaRPr lang="en-US" sz="1400" dirty="0"/>
          </a:p>
        </p:txBody>
      </p:sp>
      <p:sp>
        <p:nvSpPr>
          <p:cNvPr id="13" name="gen arrow 3"/>
          <p:cNvSpPr/>
          <p:nvPr/>
        </p:nvSpPr>
        <p:spPr>
          <a:xfrm>
            <a:off x="5349240" y="1993392"/>
            <a:ext cx="132588" cy="0"/>
          </a:xfrm>
          <a:prstGeom prst="line">
            <a:avLst/>
          </a:prstGeom>
          <a:noFill/>
          <a:ln w="19050">
            <a:solidFill>
              <a:srgbClr val="D7261E"/>
            </a:solidFill>
            <a:prstDash val="solid"/>
            <a:tailEnd type="triangle"/>
          </a:ln>
        </p:spPr>
      </p:sp>
      <p:sp>
        <p:nvSpPr>
          <p:cNvPr id="14" name="gen box 4"/>
          <p:cNvSpPr/>
          <p:nvPr/>
        </p:nvSpPr>
        <p:spPr>
          <a:xfrm>
            <a:off x="5518404" y="1627632"/>
            <a:ext cx="1481328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gen text 4"/>
          <p:cNvSpPr txBox="1"/>
          <p:nvPr/>
        </p:nvSpPr>
        <p:spPr>
          <a:xfrm>
            <a:off x="5564124" y="162763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32×32×64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ConvT, stride 2</a:t>
            </a:r>
            <a:endParaRPr lang="en-US" sz="1400" dirty="0"/>
          </a:p>
        </p:txBody>
      </p:sp>
      <p:sp>
        <p:nvSpPr>
          <p:cNvPr id="16" name="gen arrow 4"/>
          <p:cNvSpPr/>
          <p:nvPr/>
        </p:nvSpPr>
        <p:spPr>
          <a:xfrm>
            <a:off x="7036308" y="1993392"/>
            <a:ext cx="132588" cy="0"/>
          </a:xfrm>
          <a:prstGeom prst="line">
            <a:avLst/>
          </a:prstGeom>
          <a:noFill/>
          <a:ln w="19050">
            <a:solidFill>
              <a:srgbClr val="D7261E"/>
            </a:solidFill>
            <a:prstDash val="solid"/>
            <a:tailEnd type="triangle"/>
          </a:ln>
        </p:spPr>
      </p:sp>
      <p:sp>
        <p:nvSpPr>
          <p:cNvPr id="17" name="gen box 5"/>
          <p:cNvSpPr/>
          <p:nvPr/>
        </p:nvSpPr>
        <p:spPr>
          <a:xfrm>
            <a:off x="7205472" y="1627632"/>
            <a:ext cx="1481328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gen text 5"/>
          <p:cNvSpPr txBox="1"/>
          <p:nvPr/>
        </p:nvSpPr>
        <p:spPr>
          <a:xfrm>
            <a:off x="7251192" y="162763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32×32×3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tanh</a:t>
            </a:r>
            <a:endParaRPr lang="en-US" sz="1400" dirty="0"/>
          </a:p>
        </p:txBody>
      </p:sp>
      <p:sp>
        <p:nvSpPr>
          <p:cNvPr id="19" name="disc label"/>
          <p:cNvSpPr txBox="1"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DISCRIMINATOR  /  picture in, verdict out</a:t>
            </a:r>
            <a:endParaRPr lang="en-US" sz="1100" dirty="0"/>
          </a:p>
        </p:txBody>
      </p:sp>
      <p:sp>
        <p:nvSpPr>
          <p:cNvPr id="20" name="disc box 1"/>
          <p:cNvSpPr/>
          <p:nvPr/>
        </p:nvSpPr>
        <p:spPr>
          <a:xfrm>
            <a:off x="457200" y="2862072"/>
            <a:ext cx="1481328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disc text 1"/>
          <p:cNvSpPr txBox="1"/>
          <p:nvPr/>
        </p:nvSpPr>
        <p:spPr>
          <a:xfrm>
            <a:off x="502920" y="286207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32×32×3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22" name="disc arrow 1"/>
          <p:cNvSpPr/>
          <p:nvPr/>
        </p:nvSpPr>
        <p:spPr>
          <a:xfrm>
            <a:off x="1975104" y="3227832"/>
            <a:ext cx="132588" cy="0"/>
          </a:xfrm>
          <a:prstGeom prst="line">
            <a:avLst/>
          </a:prstGeom>
          <a:noFill/>
          <a:ln w="19050">
            <a:solidFill>
              <a:srgbClr val="D7261E"/>
            </a:solidFill>
            <a:prstDash val="solid"/>
            <a:tailEnd type="triangle"/>
          </a:ln>
        </p:spPr>
      </p:sp>
      <p:sp>
        <p:nvSpPr>
          <p:cNvPr id="23" name="disc box 2"/>
          <p:cNvSpPr/>
          <p:nvPr/>
        </p:nvSpPr>
        <p:spPr>
          <a:xfrm>
            <a:off x="2144268" y="2862072"/>
            <a:ext cx="148132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4" name="disc text 2"/>
          <p:cNvSpPr txBox="1"/>
          <p:nvPr/>
        </p:nvSpPr>
        <p:spPr>
          <a:xfrm>
            <a:off x="2189988" y="286207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16×16×64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Conv, stride 2</a:t>
            </a:r>
            <a:endParaRPr lang="en-US" sz="1400" dirty="0"/>
          </a:p>
        </p:txBody>
      </p:sp>
      <p:sp>
        <p:nvSpPr>
          <p:cNvPr id="25" name="disc arrow 2"/>
          <p:cNvSpPr/>
          <p:nvPr/>
        </p:nvSpPr>
        <p:spPr>
          <a:xfrm>
            <a:off x="3662172" y="3227832"/>
            <a:ext cx="132588" cy="0"/>
          </a:xfrm>
          <a:prstGeom prst="line">
            <a:avLst/>
          </a:prstGeom>
          <a:noFill/>
          <a:ln w="19050">
            <a:solidFill>
              <a:srgbClr val="D7261E"/>
            </a:solidFill>
            <a:prstDash val="solid"/>
            <a:tailEnd type="triangle"/>
          </a:ln>
        </p:spPr>
      </p:sp>
      <p:sp>
        <p:nvSpPr>
          <p:cNvPr id="26" name="disc box 3"/>
          <p:cNvSpPr/>
          <p:nvPr/>
        </p:nvSpPr>
        <p:spPr>
          <a:xfrm>
            <a:off x="3831336" y="2862072"/>
            <a:ext cx="148132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7" name="disc text 3"/>
          <p:cNvSpPr txBox="1"/>
          <p:nvPr/>
        </p:nvSpPr>
        <p:spPr>
          <a:xfrm>
            <a:off x="3877056" y="286207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8×8×128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Conv, stride 2</a:t>
            </a:r>
            <a:endParaRPr lang="en-US" sz="1400" dirty="0"/>
          </a:p>
        </p:txBody>
      </p:sp>
      <p:sp>
        <p:nvSpPr>
          <p:cNvPr id="28" name="disc arrow 3"/>
          <p:cNvSpPr/>
          <p:nvPr/>
        </p:nvSpPr>
        <p:spPr>
          <a:xfrm>
            <a:off x="5349240" y="3227832"/>
            <a:ext cx="132588" cy="0"/>
          </a:xfrm>
          <a:prstGeom prst="line">
            <a:avLst/>
          </a:prstGeom>
          <a:noFill/>
          <a:ln w="19050">
            <a:solidFill>
              <a:srgbClr val="D7261E"/>
            </a:solidFill>
            <a:prstDash val="solid"/>
            <a:tailEnd type="triangle"/>
          </a:ln>
        </p:spPr>
      </p:sp>
      <p:sp>
        <p:nvSpPr>
          <p:cNvPr id="29" name="disc box 4"/>
          <p:cNvSpPr/>
          <p:nvPr/>
        </p:nvSpPr>
        <p:spPr>
          <a:xfrm>
            <a:off x="5518404" y="2862072"/>
            <a:ext cx="148132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0" name="disc text 4"/>
          <p:cNvSpPr txBox="1"/>
          <p:nvPr/>
        </p:nvSpPr>
        <p:spPr>
          <a:xfrm>
            <a:off x="5564124" y="286207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4×4×256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Conv, stride 2</a:t>
            </a:r>
            <a:endParaRPr lang="en-US" sz="1400" dirty="0"/>
          </a:p>
        </p:txBody>
      </p:sp>
      <p:sp>
        <p:nvSpPr>
          <p:cNvPr id="31" name="disc arrow 4"/>
          <p:cNvSpPr/>
          <p:nvPr/>
        </p:nvSpPr>
        <p:spPr>
          <a:xfrm>
            <a:off x="7036308" y="3227832"/>
            <a:ext cx="132588" cy="0"/>
          </a:xfrm>
          <a:prstGeom prst="line">
            <a:avLst/>
          </a:prstGeom>
          <a:noFill/>
          <a:ln w="19050">
            <a:solidFill>
              <a:srgbClr val="D7261E"/>
            </a:solidFill>
            <a:prstDash val="solid"/>
            <a:tailEnd type="triangle"/>
          </a:ln>
        </p:spPr>
      </p:sp>
      <p:sp>
        <p:nvSpPr>
          <p:cNvPr id="32" name="disc box 5"/>
          <p:cNvSpPr/>
          <p:nvPr/>
        </p:nvSpPr>
        <p:spPr>
          <a:xfrm>
            <a:off x="7205472" y="2862072"/>
            <a:ext cx="1481328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disc text 5"/>
          <p:cNvSpPr txBox="1"/>
          <p:nvPr/>
        </p:nvSpPr>
        <p:spPr>
          <a:xfrm>
            <a:off x="7251192" y="2862072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Dense(1)</a:t>
            </a:r>
            <a:endParaRPr lang="en-US" sz="1400" dirty="0"/>
          </a:p>
        </p:txBody>
      </p:sp>
      <p:sp>
        <p:nvSpPr>
          <p:cNvPr id="34" name="arch rule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5" name="param note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size in both versions. </a:t>
            </a:r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2.31M vs 2.36M parameters, discriminator 663K vs 665K. One structural difference: only the Claude Code discriminator uses BatchNorm.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WHAT DIFFERS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Same model, different engineering</a:t>
            </a:r>
            <a:endParaRPr lang="en-US" sz="2800" dirty="0"/>
          </a:p>
        </p:txBody>
      </p:sp>
      <p:graphicFrame>
        <p:nvGraphicFramePr>
          <p:cNvPr id="6" name="diff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566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ASPECT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 BUILD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 CODE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feeding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random slice each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tf.data: next batch prepared in advance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+ 3 train_on_batch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compiled @tf.function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/ 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/ 2,760 (60 epochs)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probability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logits, from_logits=True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labels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 (keeps D from overconfidence)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init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Keras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Normal(0, 0.02), DCGAN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red note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100-d noise, Adam (lr 2e-4, β₁ 0.5), binary cross-entropy, tanh output.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A BUG I HIT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The class recipe breaks in Keras 3</a:t>
            </a:r>
            <a:endParaRPr lang="en-US" sz="2800" dirty="0"/>
          </a:p>
        </p:txBody>
      </p:sp>
      <p:sp>
        <p:nvSpPr>
          <p:cNvPr id="4" name="bug key 1"/>
          <p:cNvSpPr txBox="1"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bug rule 1"/>
          <p:cNvSpPr/>
          <p:nvPr/>
        </p:nvSpPr>
        <p:spPr>
          <a:xfrm>
            <a:off x="457200" y="1691640"/>
            <a:ext cx="2560320" cy="0"/>
          </a:xfrm>
          <a:prstGeom prst="line">
            <a:avLst/>
          </a:prstGeom>
          <a:noFill/>
          <a:ln w="9525">
            <a:solidFill>
              <a:srgbClr val="D7261E"/>
            </a:solidFill>
            <a:prstDash val="solid"/>
          </a:ln>
        </p:spPr>
      </p:sp>
      <p:sp>
        <p:nvSpPr>
          <p:cNvPr id="6" name="bug head 1"/>
          <p:cNvSpPr txBox="1"/>
          <p:nvPr/>
        </p:nvSpPr>
        <p:spPr>
          <a:xfrm>
            <a:off x="45720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Discriminator froze for good</a:t>
            </a:r>
            <a:endParaRPr lang="en-US" sz="1800" dirty="0"/>
          </a:p>
        </p:txBody>
      </p:sp>
      <p:sp>
        <p:nvSpPr>
          <p:cNvPr id="7" name="bug body 1"/>
          <p:cNvSpPr txBox="1"/>
          <p:nvPr/>
        </p:nvSpPr>
        <p:spPr>
          <a:xfrm>
            <a:off x="457200" y="256032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discriminator.trainable = False was meant to pause D only while training G. In Keras 3 it paused D everywhere. D accuracy sat near 30% and the output was pure noise.</a:t>
            </a:r>
            <a:endParaRPr lang="en-US" sz="1300" dirty="0"/>
          </a:p>
        </p:txBody>
      </p:sp>
      <p:sp>
        <p:nvSpPr>
          <p:cNvPr id="8" name="bug key 2"/>
          <p:cNvSpPr txBox="1"/>
          <p:nvPr/>
        </p:nvSpPr>
        <p:spPr>
          <a:xfrm>
            <a:off x="32918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FIX</a:t>
            </a:r>
            <a:endParaRPr lang="en-US" sz="1100" dirty="0"/>
          </a:p>
        </p:txBody>
      </p:sp>
      <p:sp>
        <p:nvSpPr>
          <p:cNvPr id="9" name="bug rule 2"/>
          <p:cNvSpPr/>
          <p:nvPr/>
        </p:nvSpPr>
        <p:spPr>
          <a:xfrm>
            <a:off x="3291840" y="1691640"/>
            <a:ext cx="2560320" cy="0"/>
          </a:xfrm>
          <a:prstGeom prst="line">
            <a:avLst/>
          </a:prstGeom>
          <a:noFill/>
          <a:ln w="9525">
            <a:solidFill>
              <a:srgbClr val="141414"/>
            </a:solidFill>
            <a:prstDash val="solid"/>
          </a:ln>
        </p:spPr>
      </p:sp>
      <p:sp>
        <p:nvSpPr>
          <p:cNvPr id="10" name="bug head 2"/>
          <p:cNvSpPr txBox="1"/>
          <p:nvPr/>
        </p:nvSpPr>
        <p:spPr>
          <a:xfrm>
            <a:off x="329184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Toggle every step</a:t>
            </a:r>
            <a:endParaRPr lang="en-US" sz="1800" dirty="0"/>
          </a:p>
        </p:txBody>
      </p:sp>
      <p:sp>
        <p:nvSpPr>
          <p:cNvPr id="11" name="bug body 2"/>
          <p:cNvSpPr txBox="1"/>
          <p:nvPr/>
        </p:nvSpPr>
        <p:spPr>
          <a:xfrm>
            <a:off x="3291840" y="256032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optimizers for D and the combined model, and switch trainable on before D's turn and off before G's turn.</a:t>
            </a:r>
            <a:endParaRPr lang="en-US" sz="1300" dirty="0"/>
          </a:p>
        </p:txBody>
      </p:sp>
      <p:sp>
        <p:nvSpPr>
          <p:cNvPr id="12" name="bug key 3"/>
          <p:cNvSpPr txBox="1"/>
          <p:nvPr/>
        </p:nvSpPr>
        <p:spPr>
          <a:xfrm>
            <a:off x="612648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CLAUDE CODE AVOIDS IT</a:t>
            </a:r>
            <a:endParaRPr lang="en-US" sz="1100" dirty="0"/>
          </a:p>
        </p:txBody>
      </p:sp>
      <p:sp>
        <p:nvSpPr>
          <p:cNvPr id="13" name="bug rule 3"/>
          <p:cNvSpPr/>
          <p:nvPr/>
        </p:nvSpPr>
        <p:spPr>
          <a:xfrm>
            <a:off x="6126480" y="1691640"/>
            <a:ext cx="2560320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14" name="bug head 3"/>
          <p:cNvSpPr txBox="1"/>
          <p:nvPr/>
        </p:nvSpPr>
        <p:spPr>
          <a:xfrm>
            <a:off x="612648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switch needed</a:t>
            </a:r>
            <a:endParaRPr lang="en-US" sz="1800" dirty="0"/>
          </a:p>
        </p:txBody>
      </p:sp>
      <p:sp>
        <p:nvSpPr>
          <p:cNvPr id="15" name="bug body 3"/>
          <p:cNvSpPr txBox="1"/>
          <p:nvPr/>
        </p:nvSpPr>
        <p:spPr>
          <a:xfrm>
            <a:off x="6126480" y="256032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uses trainable. GradientTape updates only the generator's own weights in the G step, so D is never touched.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Claude Code trains about 2× faster</a:t>
            </a:r>
            <a:endParaRPr lang="en-US" sz="2800" dirty="0"/>
          </a:p>
        </p:txBody>
      </p:sp>
      <p:sp>
        <p:nvSpPr>
          <p:cNvPr id="4" name="col mine"/>
          <p:cNvSpPr txBox="1"/>
          <p:nvPr/>
        </p:nvSpPr>
        <p:spPr>
          <a:xfrm>
            <a:off x="196596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</a:t>
            </a:r>
            <a:endParaRPr lang="en-US" sz="1100" dirty="0"/>
          </a:p>
        </p:txBody>
      </p:sp>
      <p:sp>
        <p:nvSpPr>
          <p:cNvPr id="5" name="col claude"/>
          <p:cNvSpPr txBox="1"/>
          <p:nvPr/>
        </p:nvSpPr>
        <p:spPr>
          <a:xfrm>
            <a:off x="3063240" y="1280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7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100" dirty="0"/>
          </a:p>
        </p:txBody>
      </p:sp>
      <p:sp>
        <p:nvSpPr>
          <p:cNvPr id="6" name="stat lab 1"/>
          <p:cNvSpPr txBox="1"/>
          <p:nvPr/>
        </p:nvSpPr>
        <p:spPr>
          <a:xfrm>
            <a:off x="457200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per step</a:t>
            </a:r>
            <a:endParaRPr lang="en-US" sz="1300" dirty="0"/>
          </a:p>
        </p:txBody>
      </p:sp>
      <p:sp>
        <p:nvSpPr>
          <p:cNvPr id="7" name="stat mine 1"/>
          <p:cNvSpPr txBox="1"/>
          <p:nvPr/>
        </p:nvSpPr>
        <p:spPr>
          <a:xfrm>
            <a:off x="1965960" y="1600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C8C8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118</a:t>
            </a:r>
            <a:endParaRPr lang="en-US" sz="2400" dirty="0"/>
          </a:p>
        </p:txBody>
      </p:sp>
      <p:sp>
        <p:nvSpPr>
          <p:cNvPr id="8" name="stat claude 1"/>
          <p:cNvSpPr txBox="1"/>
          <p:nvPr/>
        </p:nvSpPr>
        <p:spPr>
          <a:xfrm>
            <a:off x="3063240" y="16002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D726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84.5</a:t>
            </a:r>
            <a:endParaRPr lang="en-US" sz="2400" dirty="0"/>
          </a:p>
        </p:txBody>
      </p:sp>
      <p:sp>
        <p:nvSpPr>
          <p:cNvPr id="9" name="stat rule 1"/>
          <p:cNvSpPr/>
          <p:nvPr/>
        </p:nvSpPr>
        <p:spPr>
          <a:xfrm>
            <a:off x="457200" y="2185416"/>
            <a:ext cx="3657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0" name="stat lab 2"/>
          <p:cNvSpPr txBox="1"/>
          <p:nvPr/>
        </p:nvSpPr>
        <p:spPr>
          <a:xfrm>
            <a:off x="45720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minutes</a:t>
            </a:r>
            <a:endParaRPr lang="en-US" sz="1300" dirty="0"/>
          </a:p>
        </p:txBody>
      </p:sp>
      <p:sp>
        <p:nvSpPr>
          <p:cNvPr id="11" name="stat mine 2"/>
          <p:cNvSpPr txBox="1"/>
          <p:nvPr/>
        </p:nvSpPr>
        <p:spPr>
          <a:xfrm>
            <a:off x="196596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C8C8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7.8</a:t>
            </a:r>
            <a:endParaRPr lang="en-US" sz="2400" dirty="0"/>
          </a:p>
        </p:txBody>
      </p:sp>
      <p:sp>
        <p:nvSpPr>
          <p:cNvPr id="12" name="stat claude 2"/>
          <p:cNvSpPr txBox="1"/>
          <p:nvPr/>
        </p:nvSpPr>
        <p:spPr>
          <a:xfrm>
            <a:off x="3063240" y="22402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D726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4.2</a:t>
            </a:r>
            <a:endParaRPr lang="en-US" sz="2400" dirty="0"/>
          </a:p>
        </p:txBody>
      </p:sp>
      <p:sp>
        <p:nvSpPr>
          <p:cNvPr id="13" name="stat rule 2"/>
          <p:cNvSpPr/>
          <p:nvPr/>
        </p:nvSpPr>
        <p:spPr>
          <a:xfrm>
            <a:off x="457200" y="2825496"/>
            <a:ext cx="3657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stat lab 3"/>
          <p:cNvSpPr txBox="1"/>
          <p:nvPr/>
        </p:nvSpPr>
        <p:spPr>
          <a:xfrm>
            <a:off x="45720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sec</a:t>
            </a:r>
            <a:endParaRPr lang="en-US" sz="1300" dirty="0"/>
          </a:p>
        </p:txBody>
      </p:sp>
      <p:sp>
        <p:nvSpPr>
          <p:cNvPr id="15" name="stat mine 3"/>
          <p:cNvSpPr txBox="1"/>
          <p:nvPr/>
        </p:nvSpPr>
        <p:spPr>
          <a:xfrm>
            <a:off x="196596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C8C8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~540</a:t>
            </a:r>
            <a:endParaRPr lang="en-US" sz="2400" dirty="0"/>
          </a:p>
        </p:txBody>
      </p:sp>
      <p:sp>
        <p:nvSpPr>
          <p:cNvPr id="16" name="stat claude 3"/>
          <p:cNvSpPr txBox="1"/>
          <p:nvPr/>
        </p:nvSpPr>
        <p:spPr>
          <a:xfrm>
            <a:off x="3063240" y="28803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D726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~1,500</a:t>
            </a:r>
            <a:endParaRPr lang="en-US" sz="2400" dirty="0"/>
          </a:p>
        </p:txBody>
      </p:sp>
      <p:sp>
        <p:nvSpPr>
          <p:cNvPr id="17" name="stat rule 3"/>
          <p:cNvSpPr/>
          <p:nvPr/>
        </p:nvSpPr>
        <p:spPr>
          <a:xfrm>
            <a:off x="457200" y="3465576"/>
            <a:ext cx="3657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caveat"/>
          <p:cNvSpPr txBox="1"/>
          <p:nvPr/>
        </p:nvSpPr>
        <p:spPr>
          <a:xfrm>
            <a:off x="45720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runs stayed stable (no collapse). Batch size and step count differ, so the gap reflects code design plus training tricks together.</a:t>
            </a:r>
            <a:endParaRPr lang="en-US" sz="1100" dirty="0"/>
          </a:p>
        </p:txBody>
      </p:sp>
      <p:sp>
        <p:nvSpPr>
          <p:cNvPr id="19" name="img lab mine"/>
          <p:cNvSpPr txBox="1"/>
          <p:nvPr/>
        </p:nvSpPr>
        <p:spPr>
          <a:xfrm>
            <a:off x="457200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MINE, STEP 3,500</a:t>
            </a:r>
            <a:endParaRPr lang="en-US" sz="1000" dirty="0"/>
          </a:p>
        </p:txBody>
      </p:sp>
      <p:sp>
        <p:nvSpPr>
          <p:cNvPr id="20" name="img lab claude"/>
          <p:cNvSpPr txBox="1"/>
          <p:nvPr/>
        </p:nvSpPr>
        <p:spPr>
          <a:xfrm>
            <a:off x="667512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CODE, EPOCH 60</a:t>
            </a:r>
            <a:endParaRPr lang="en-US" sz="1000" dirty="0"/>
          </a:p>
        </p:txBody>
      </p:sp>
      <p:pic>
        <p:nvPicPr>
          <p:cNvPr id="21" name="mine sampl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00200"/>
            <a:ext cx="2011680" cy="1974993"/>
          </a:xfrm>
          <a:prstGeom prst="rect">
            <a:avLst/>
          </a:prstGeom>
        </p:spPr>
      </p:pic>
      <p:pic>
        <p:nvPicPr>
          <p:cNvPr id="22" name="claude sampl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00200"/>
            <a:ext cx="2011680" cy="1974993"/>
          </a:xfrm>
          <a:prstGeom prst="rect">
            <a:avLst/>
          </a:prstGeom>
        </p:spPr>
      </p:pic>
      <p:sp>
        <p:nvSpPr>
          <p:cNvPr id="23" name="img caption"/>
          <p:cNvSpPr txBox="1"/>
          <p:nvPr/>
        </p:nvSpPr>
        <p:spPr>
          <a:xfrm>
            <a:off x="4572000" y="3703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draw recognizable cars. Claude Code's are cleaner, with fewer checkerboard artifacts.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NOISE CONTROL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The noise vector steers the car</a:t>
            </a:r>
            <a:endParaRPr lang="en-US" sz="2800" dirty="0"/>
          </a:p>
        </p:txBody>
      </p:sp>
      <p:sp>
        <p:nvSpPr>
          <p:cNvPr id="4" name="interp lab"/>
          <p:cNvSpPr txBox="1"/>
          <p:nvPr/>
        </p:nvSpPr>
        <p:spPr>
          <a:xfrm>
            <a:off x="45720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INTERPOLATE  z_a → z_b: one car morphs smoothly into another</a:t>
            </a:r>
            <a:endParaRPr lang="en-US" sz="1000" dirty="0"/>
          </a:p>
        </p:txBody>
      </p:sp>
      <p:pic>
        <p:nvPicPr>
          <p:cNvPr id="5" name="interpol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5120640" cy="580425"/>
          </a:xfrm>
          <a:prstGeom prst="rect">
            <a:avLst/>
          </a:prstGeom>
        </p:spPr>
      </p:pic>
      <p:sp>
        <p:nvSpPr>
          <p:cNvPr id="6" name="mag lab"/>
          <p:cNvSpPr txBox="1"/>
          <p:nvPr/>
        </p:nvSpPr>
        <p:spPr>
          <a:xfrm>
            <a:off x="457200" y="2423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 0× = blank average; more noise = sharper, varied cars</a:t>
            </a:r>
            <a:endParaRPr lang="en-US" sz="1000" dirty="0"/>
          </a:p>
        </p:txBody>
      </p:sp>
      <p:pic>
        <p:nvPicPr>
          <p:cNvPr id="7" name="magnitud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3840480" cy="888367"/>
          </a:xfrm>
          <a:prstGeom prst="rect">
            <a:avLst/>
          </a:prstGeom>
        </p:spPr>
      </p:pic>
      <p:sp>
        <p:nvSpPr>
          <p:cNvPr id="8" name="take key"/>
          <p:cNvSpPr txBox="1"/>
          <p:nvPr/>
        </p:nvSpPr>
        <p:spPr>
          <a:xfrm>
            <a:off x="603504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9" name="take num 1"/>
          <p:cNvSpPr txBox="1"/>
          <p:nvPr/>
        </p:nvSpPr>
        <p:spPr>
          <a:xfrm>
            <a:off x="603504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26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ake text 1"/>
          <p:cNvSpPr txBox="1"/>
          <p:nvPr/>
        </p:nvSpPr>
        <p:spPr>
          <a:xfrm>
            <a:off x="640080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Convolutions turn the MNIST toy GAN into a color-image DCGAN.</a:t>
            </a:r>
            <a:endParaRPr lang="en-US" sz="1300" dirty="0"/>
          </a:p>
        </p:txBody>
      </p:sp>
      <p:sp>
        <p:nvSpPr>
          <p:cNvPr id="11" name="take num 2"/>
          <p:cNvSpPr txBox="1"/>
          <p:nvPr/>
        </p:nvSpPr>
        <p:spPr>
          <a:xfrm>
            <a:off x="6035040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26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ake text 2"/>
          <p:cNvSpPr txBox="1"/>
          <p:nvPr/>
        </p:nvSpPr>
        <p:spPr>
          <a:xfrm>
            <a:off x="6400800" y="2606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size, yet Claude Code finishes in about half the time with cleaner cars.</a:t>
            </a:r>
            <a:endParaRPr lang="en-US" sz="1300" dirty="0"/>
          </a:p>
        </p:txBody>
      </p:sp>
      <p:sp>
        <p:nvSpPr>
          <p:cNvPr id="13" name="take num 3"/>
          <p:cNvSpPr txBox="1"/>
          <p:nvPr/>
        </p:nvSpPr>
        <p:spPr>
          <a:xfrm>
            <a:off x="6035040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26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ake text 3"/>
          <p:cNvSpPr txBox="1"/>
          <p:nvPr/>
        </p:nvSpPr>
        <p:spPr>
          <a:xfrm>
            <a:off x="6400800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is engineering, not a bigger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CGAN Editorial">
  <a:themeElements>
    <a:clrScheme name="DCGAN Editorial">
      <a:dk1>
        <a:srgbClr val="141414"/>
      </a:dk1>
      <a:lt1>
        <a:srgbClr val="FFFFFF"/>
      </a:lt1>
      <a:dk2>
        <a:srgbClr val="4A4A4A"/>
      </a:dk2>
      <a:lt2>
        <a:srgbClr val="F2F2F2"/>
      </a:lt2>
      <a:accent1>
        <a:srgbClr val="D7261E"/>
      </a:accent1>
      <a:accent2>
        <a:srgbClr val="8C8C8C"/>
      </a:accent2>
      <a:accent3>
        <a:srgbClr val="BDBDBD"/>
      </a:accent3>
      <a:accent4>
        <a:srgbClr val="2B2B2B"/>
      </a:accent4>
      <a:accent5>
        <a:srgbClr val="6E6E6E"/>
      </a:accent5>
      <a:accent6>
        <a:srgbClr val="E8E8E8"/>
      </a:accent6>
      <a:hlink>
        <a:srgbClr val="D7261E"/>
      </a:hlink>
      <a:folHlink>
        <a:srgbClr val="6E6E6E"/>
      </a:folHlink>
    </a:clrScheme>
    <a:fontScheme name="DCGAN Editorial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DCGAN on CIFAR-10 Automobile</dc:title>
  <dc:subject>PptxGenJS Presentation</dc:subject>
  <dc:creator>Qi Chen</dc:creator>
  <cp:lastModifiedBy>Qi Chen</cp:lastModifiedBy>
  <cp:revision>1</cp:revision>
  <dcterms:created xsi:type="dcterms:W3CDTF">2026-10-05T00:11:15Z</dcterms:created>
  <dcterms:modified xsi:type="dcterms:W3CDTF">2026-10-05T00:11:15Z</dcterms:modified>
</cp:coreProperties>
</file>